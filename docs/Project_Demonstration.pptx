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6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62626"/>
                </a:solidFill>
                <a:latin typeface="Calibri"/>
              </a:rPr>
              <a:t>Query time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13877A"/>
            </a:solidFill>
            <a:effectLst/>
          </c:spPr>
          <c:invertIfNegative val="0"/>
          <c:dLbls>
            <c:numFmt formatCode="0.0&quot; ms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awareness view</c:v>
                  </c:pt>
                  <c:pt idx="1">
                    <c:v>scheme summary view</c:v>
                  </c:pt>
                  <c:pt idx="2">
                    <c:v>divergence view</c:v>
                  </c:pt>
                  <c:pt idx="3">
                    <c:v>full-text search</c:v>
                  </c:pt>
                  <c:pt idx="4">
                    <c:v>window-function ranking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</c:v>
                </c:pt>
                <c:pt idx="1">
                  <c:v>7.9</c:v>
                </c:pt>
                <c:pt idx="2">
                  <c:v>13.6</c:v>
                </c:pt>
                <c:pt idx="3">
                  <c:v>1.3</c:v>
                </c:pt>
                <c:pt idx="4">
                  <c:v>4</c:v>
                </c:pt>
              </c:numCache>
            </c:numRef>
          </c:val>
        </c:ser>
        <c:dLbls>
          <c:numFmt formatCode="0.0&quot; ms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626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C2B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6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62626"/>
                </a:solidFill>
                <a:latin typeface="Calibri"/>
              </a:rPr>
              <a:t>Macro-F1 on 243 human-labelled test answers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13877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Fine-tuned ModernBERT-base</c:v>
                  </c:pt>
                  <c:pt idx="1">
                    <c:v>Claude Opus 5.5 (zero-shot)</c:v>
                  </c:pt>
                  <c:pt idx="2">
                    <c:v>LLM Dhenu2-In-Llama3.2-3B-Instruct (3-shot)</c:v>
                  </c:pt>
                  <c:pt idx="3">
                    <c:v>SetFit (all-mpnet-base-v2)</c:v>
                  </c:pt>
                  <c:pt idx="4">
                    <c:v>TF-IDF logistic regression</c:v>
                  </c:pt>
                  <c:pt idx="5">
                    <c:v>Fine-tuned deberta-v3-base</c:v>
                  </c:pt>
                  <c:pt idx="6">
                    <c:v>LLM Dhenu2-In-Llama3.2-3B-Instruct (zero-shot)</c:v>
                  </c:pt>
                  <c:pt idx="7">
                    <c:v>RoBERTa Twitter (zero-shot)</c:v>
                  </c:pt>
                  <c:pt idx="8">
                    <c:v>LLM Qwen2.5-3B-Instruct (3-shot)</c:v>
                  </c:pt>
                  <c:pt idx="9">
                    <c:v>LLM Qwen2.5-3B-Instruct (zero-shot)</c:v>
                  </c:pt>
                  <c:pt idx="10">
                    <c:v>VADER + agri lexicon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0.765</c:v>
                </c:pt>
                <c:pt idx="1">
                  <c:v>0.742</c:v>
                </c:pt>
                <c:pt idx="2">
                  <c:v>0.704</c:v>
                </c:pt>
                <c:pt idx="3">
                  <c:v>0.675</c:v>
                </c:pt>
                <c:pt idx="4">
                  <c:v>0.641</c:v>
                </c:pt>
                <c:pt idx="5">
                  <c:v>0.533</c:v>
                </c:pt>
                <c:pt idx="6">
                  <c:v>0.445</c:v>
                </c:pt>
                <c:pt idx="7">
                  <c:v>0.439</c:v>
                </c:pt>
                <c:pt idx="8">
                  <c:v>0.391</c:v>
                </c:pt>
                <c:pt idx="9">
                  <c:v>0.321</c:v>
                </c:pt>
                <c:pt idx="10">
                  <c:v>0.223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626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C2B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26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62626"/>
                </a:solidFill>
                <a:latin typeface="Calibri"/>
              </a:rPr>
              <a:t>Enrolled, among farmers who know the scheme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1387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Rythu Bharosa</c:v>
                  </c:pt>
                  <c:pt idx="1">
                    <c:v>PM-KISAN</c:v>
                  </c:pt>
                  <c:pt idx="2">
                    <c:v>Kisan Credit Card</c:v>
                  </c:pt>
                  <c:pt idx="3">
                    <c:v>Input Subsidy</c:v>
                  </c:pt>
                  <c:pt idx="4">
                    <c:v>Minimum Support Price</c:v>
                  </c:pt>
                  <c:pt idx="5">
                    <c:v>Soil Health Card</c:v>
                  </c:pt>
                  <c:pt idx="6">
                    <c:v>Crop Insurance</c:v>
                  </c:pt>
                  <c:pt idx="7">
                    <c:v>e-NAM</c:v>
                  </c:pt>
                  <c:pt idx="8">
                    <c:v>PM Krishi Sinchai Yojana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89.4</c:v>
                </c:pt>
                <c:pt idx="1">
                  <c:v>54.3</c:v>
                </c:pt>
                <c:pt idx="2">
                  <c:v>42.6</c:v>
                </c:pt>
                <c:pt idx="3">
                  <c:v>26</c:v>
                </c:pt>
                <c:pt idx="4">
                  <c:v>13.2</c:v>
                </c:pt>
                <c:pt idx="5">
                  <c:v>10</c:v>
                </c:pt>
                <c:pt idx="6">
                  <c:v>9.1</c:v>
                </c:pt>
                <c:pt idx="7">
                  <c:v>8.8</c:v>
                </c:pt>
                <c:pt idx="8">
                  <c:v>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626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C2B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I'm Krish Singh, 24BDS0235. My project, under the guidance of Prof. Sangeetha S, turns a survey of 1,500 farmers into a PostgreSQL database and uses NLP and LLMs to understand what farmers wrote about government schemes.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survey was a single spreadsheet: inconsistent scheme names, lists inside cells, no validation, and over a thousand written answers nobody had analysed.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all completed: a clean database, traceable loading, an NLP layer, SQL answers, a proper model comparison, and the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scope is one district's survey, end to end: from the raw file to validated analysis. Data collection apps and other districts are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has three parts: store the data properly, understand the written feedback with validated NLP, and act on it through SQL views and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chose PostgreSQL because the data is relational and I needed the database itself to enforce rules. Document, graph and key-value databases didn't fit a fixed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the live database. Respondent is the centre; awareness, feedback and crops are link tables; the six rating columns became rows in aspect_rating. Crow's feet mark the many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analytics schema stores every NLP result with the model that produced it, plus topics, quality flags and the human labels used for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Lists inside cells became link tables for 1NF. Village-to-district and scheme names moved to their own tables, removing transitive dependencies for 3NF.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to application to database to output. Python cleans the data, runs the models and loads PostgreSQL in one transaction; every output is generated from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workflow as connected nodes: ingest and clean, NLP analysis, model validation, storage in four PostgreSQL schemas, and the outputs each user receives.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for the database, Python for everything else; Hugging Face Transformers and SetFit for NLP; PyTorch with 4-bit quantisation to run 3-billion-parameter LLMs on a laptop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numbered scripts in five groups. Running them in order rebuilds the whole project from the raw Excel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kinds of NLP, from simple word lists to large language models, so the comparison covers the whole range of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compared an Indian agriculture LLM, Dhenu2, with a general open LLM of the same size, a frontier LLM, and fine-tuned encoders — plus three standard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database in psql: the survey tables, and one table's structure with its primary key, unique key, CHECK rule and foreign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tried to insert bad data on purpose; PostgreSQL rejected every attempt. Genuine but contradictory answers are flagged, not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connects with psycopg using parameterised queries in a single transaction. Annotators label in Excel with one-key shortcuts; every model score is stored with its model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run the awareness view and a full-text search in psql. Every reporting query runs in milliseconds.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labels live in the database, and a SQL view computes each model's accuracy. VADER agrees with humans only 23.5% of the time, RoBERTa 50.6%. That is why the model comparison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11 models were scored on the same human-labelled test set. Fine-tuned ModernBERT-base was best with macro-F1 0.765. The VADER lexicon, still common in papers, scored only 0.223.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1 comes straight from survey answers: knowing about a scheme does not mean joining it. Enrolment is the weakest aspect for every major scheme, and ratings often contradict what farmers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load verifies itself: 41 checks compare the database with the Python analysis, and all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challenges came from messy real data; each became a design decision. I also learned how to evaluate models properly and run LLMs on modest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a clean, verified database, a fair comparison of NLP models and LLMs, and policy answers in SQL. The research paper is being prepared for a Q1 journal under Prof. Sangeetha 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spc="2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BCSE302P DATABASE SYSTEMS LAB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spc="2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&amp; DEMONSTRATION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Intelligence for Agriculture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PostgreSQL database and NLP system for farmer feedback on government welfare schemes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280160" cy="0"/>
          </a:xfrm>
          <a:prstGeom prst="line">
            <a:avLst/>
          </a:prstGeom>
          <a:noFill/>
          <a:ln w="38100">
            <a:solidFill>
              <a:srgbClr val="138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Singh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No. 24BDS0235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Prof. Sangeetha S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Vellore Institute of Technology, Vellore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0" y="777240"/>
            <a:ext cx="3410712" cy="5303520"/>
          </a:xfrm>
          <a:prstGeom prst="rect">
            <a:avLst/>
          </a:prstGeom>
          <a:solidFill>
            <a:srgbClr val="2C4A7A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097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1,500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549640" y="1810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interviews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49640" y="2651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4964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49640" y="4206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49640" y="4919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models compared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33472" cy="16002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16002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00200"/>
            <a:ext cx="217627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9115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spellings of one scheme name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74136" y="1463040"/>
            <a:ext cx="2633472" cy="16002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4136" y="1463040"/>
            <a:ext cx="54864" cy="16002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02736" y="1600200"/>
            <a:ext cx="217627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Many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239115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packed in one cell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99632" y="1463040"/>
            <a:ext cx="2633472" cy="16002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463040"/>
            <a:ext cx="54864" cy="16002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1600200"/>
            <a:ext cx="217627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1,214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239115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farmers' written feedback never analysed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25128" y="1463040"/>
            <a:ext cx="2633472" cy="16002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25128" y="1463040"/>
            <a:ext cx="54864" cy="16002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53728" y="1600200"/>
            <a:ext cx="217627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253728" y="239115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stopping invalid data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11091672" cy="265176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977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Schemes are judged by satisfaction ratings, but farmers also explain in their own words what went wrong.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709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this survey be stored so it is clean, trustworthy and queryable — and how can the written feedback be analysed reliably enough to guide policy?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137160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97380"/>
            <a:ext cx="502920" cy="5029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202311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4630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normalised relational database (3NF) with keys and constraints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13716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1463040"/>
            <a:ext cx="54864" cy="13716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73368" y="1897380"/>
            <a:ext cx="502920" cy="5029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098" y="20231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40880" y="14630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raw survey cleanly and keep every record traceable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3063240"/>
            <a:ext cx="5440680" cy="13716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063240"/>
            <a:ext cx="54864" cy="13716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3497580"/>
            <a:ext cx="502920" cy="5029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36233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0632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written feedback with NLP and store results with their model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172200" y="3063240"/>
            <a:ext cx="5440680" cy="13716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72200" y="3063240"/>
            <a:ext cx="54864" cy="13716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73368" y="3497580"/>
            <a:ext cx="502920" cy="5029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098" y="362331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40880" y="30632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policy questions with SQL views and queries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663440"/>
            <a:ext cx="5440680" cy="13716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8640" y="4663440"/>
            <a:ext cx="54864" cy="13716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49808" y="5097780"/>
            <a:ext cx="502920" cy="5029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" y="5223510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417320" y="46634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compare NLP models and LLMs against human labels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172200" y="4663440"/>
            <a:ext cx="5440680" cy="13716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172200" y="4663440"/>
            <a:ext cx="54864" cy="13716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373368" y="5097780"/>
            <a:ext cx="502920" cy="5029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098" y="5223510"/>
            <a:ext cx="251460" cy="2514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040880" y="46634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reports, a policy brief and a Q1 research paper</a:t>
            </a:r>
            <a:endParaRPr lang="en-US" sz="1500" dirty="0"/>
          </a:p>
        </p:txBody>
      </p:sp>
      <p:sp>
        <p:nvSpPr>
          <p:cNvPr id="36" name="Shape 27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457200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scope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960120" y="269748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8016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interviews, Chittoor district (AP)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60120" y="3319272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80160" y="3227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design, build, load, testing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60120" y="3941064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80160" y="3849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sentiment, aspects, topics, LLMs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60120" y="4562856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80160" y="4471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views, reports, policy brief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60120" y="5184648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80160" y="5093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Human-labelled validation set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53912" y="1463040"/>
            <a:ext cx="5486400" cy="457200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73952" y="1691640"/>
            <a:ext cx="548640" cy="54864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82880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159752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 of scope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6565392" y="269748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85432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Survey-collection app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565392" y="3319272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885432" y="3227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districts or states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565392" y="3941064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885432" y="3849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streaming data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565392" y="4562856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885432" y="4471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6565392" y="5184648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85432" y="5093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farmers' personal details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20440" cy="384048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54864" cy="384048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Store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375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PostgreSQL database: 4 schemas, 22 tables, 26 foreign keys, rules that reject bad data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4800" y="3291840"/>
            <a:ext cx="274320" cy="365760"/>
          </a:xfrm>
          <a:prstGeom prst="rightArrow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1554480"/>
            <a:ext cx="3520440" cy="384048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783080"/>
            <a:ext cx="731520" cy="7315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659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6344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33375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LLMs read 6,091 written answers; 11 models compared against human labels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955280" y="3291840"/>
            <a:ext cx="274320" cy="365760"/>
          </a:xfrm>
          <a:prstGeom prst="rightArrow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0" y="1554480"/>
            <a:ext cx="3520440" cy="384048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0" y="1554480"/>
            <a:ext cx="54864" cy="384048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503920" y="1783080"/>
            <a:ext cx="731520" cy="7315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9659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0392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8503920" y="33375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 answer policy questions; reports, dashboards and a research paper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traceable to an interview, and the whole system rebuilds from the raw file in ~14 seconds.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 Technology Used: PostgreSQL 16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96012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91640"/>
            <a:ext cx="502920" cy="5029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181737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463040"/>
            <a:ext cx="10085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Which:  PostgreSQL 16 — a relational (SQL) database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11091672" cy="96012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606040"/>
            <a:ext cx="54864" cy="96012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2834640"/>
            <a:ext cx="502920" cy="5029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38" y="296037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606040"/>
            <a:ext cx="10085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Data is relational: farmers ↔ schemes ↔ aspects need joins and foreign keys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11091672" cy="96012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749040"/>
            <a:ext cx="54864" cy="96012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3977640"/>
            <a:ext cx="502920" cy="502920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410337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749040"/>
            <a:ext cx="10085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Suitable:  CHECK rules, transactions, views, window functions, full-text search; free; works with Python and Power BI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292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59710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considered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not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survey structure needs joins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 are only 1–2 levels deep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/ BigQuery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Key-value /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ad-hoc analysis / overkill for 1,500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 Diagram — Survey Schema (3NF)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er_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075883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80160"/>
            <a:ext cx="10758830" cy="4846320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 Diagram — Analytics Schema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er_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969264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280160"/>
            <a:ext cx="9692640" cy="4846320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Normalisation: Spreadsheet → 3NF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normali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1672" cy="41593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71600"/>
            <a:ext cx="11091672" cy="4159377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075883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80160"/>
            <a:ext cx="10758830" cy="4846320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workflow_n8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0160391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34440"/>
            <a:ext cx="10160391" cy="4892040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33472" cy="210312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1907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860804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24231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8072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pgAdmin · psql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74136" y="1463040"/>
            <a:ext cx="2633472" cy="210312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74136" y="1463040"/>
            <a:ext cx="54864" cy="210312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0168" y="171907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1860804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30168" y="24231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30168" y="28072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psycopg 3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199632" y="1463040"/>
            <a:ext cx="2633472" cy="210312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99632" y="1463040"/>
            <a:ext cx="54864" cy="210312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55664" y="171907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860804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55664" y="24231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55664" y="28072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openpyxl · RapidFuzz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9025128" y="1463040"/>
            <a:ext cx="2633472" cy="210312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81160" y="171907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2" y="1860804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81160" y="24231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NLP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281160" y="28072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· Transformers · SetFit · scikit-learn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3794760"/>
            <a:ext cx="2633472" cy="210312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48640" y="3794760"/>
            <a:ext cx="54864" cy="210312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4192524"/>
            <a:ext cx="283464" cy="28346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04672" y="47548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runtime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804672" y="513892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CUDA · bitsandbytes 4-bit · RTX 2050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3374136" y="3794760"/>
            <a:ext cx="2633472" cy="210312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374136" y="3794760"/>
            <a:ext cx="54864" cy="210312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630168" y="405079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1900" y="4192524"/>
            <a:ext cx="283464" cy="28346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630168" y="47548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3630168" y="513892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· bootstrap CI · McNemar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6199632" y="3794760"/>
            <a:ext cx="2633472" cy="210312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199632" y="3794760"/>
            <a:ext cx="54864" cy="210312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455664" y="405079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4192524"/>
            <a:ext cx="283464" cy="28346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455664" y="47548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45" name="Text 36"/>
          <p:cNvSpPr txBox="1"/>
          <p:nvPr/>
        </p:nvSpPr>
        <p:spPr>
          <a:xfrm>
            <a:off x="6455664" y="513892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· Power BI</a:t>
            </a:r>
            <a:endParaRPr lang="en-US" sz="1250" dirty="0"/>
          </a:p>
        </p:txBody>
      </p:sp>
      <p:sp>
        <p:nvSpPr>
          <p:cNvPr id="46" name="Shape 37"/>
          <p:cNvSpPr/>
          <p:nvPr/>
        </p:nvSpPr>
        <p:spPr>
          <a:xfrm>
            <a:off x="9025128" y="3794760"/>
            <a:ext cx="2633472" cy="210312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9025128" y="3794760"/>
            <a:ext cx="54864" cy="210312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9281160" y="405079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2892" y="4192524"/>
            <a:ext cx="283464" cy="283464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281160" y="47548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Tools</a:t>
            </a:r>
            <a:endParaRPr lang="en-US" sz="1600" dirty="0"/>
          </a:p>
        </p:txBody>
      </p:sp>
      <p:sp>
        <p:nvSpPr>
          <p:cNvPr id="51" name="Text 41"/>
          <p:cNvSpPr txBox="1"/>
          <p:nvPr/>
        </p:nvSpPr>
        <p:spPr>
          <a:xfrm>
            <a:off x="9281160" y="513892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Git / GitHub · Colab</a:t>
            </a:r>
            <a:endParaRPr lang="en-US" sz="1250" dirty="0"/>
          </a:p>
        </p:txBody>
      </p:sp>
      <p:sp>
        <p:nvSpPr>
          <p:cNvPr id="53" name="Shape 42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55" name="Text 44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Modules (12 scripts, run in order)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103120" cy="329184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329184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Ingest &amp; clean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run_pipeline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30632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run_analysis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651760" y="2926080"/>
            <a:ext cx="146304" cy="274320"/>
          </a:xfrm>
          <a:prstGeom prst="rightArrow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8064" y="1463040"/>
            <a:ext cx="2103120" cy="329184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98064" y="1463040"/>
            <a:ext cx="54864" cy="329184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26664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Labelling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026664" y="23774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46704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annotation sheets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026664" y="30632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46704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training sheets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901184" y="2926080"/>
            <a:ext cx="146304" cy="274320"/>
          </a:xfrm>
          <a:prstGeom prst="rightArrow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7488" y="1463040"/>
            <a:ext cx="2103120" cy="329184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76088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D3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276088" y="23774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96128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load_database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276088" y="30632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96128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+ 41 checks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150608" y="2926080"/>
            <a:ext cx="146304" cy="274320"/>
          </a:xfrm>
          <a:prstGeom prst="rightArrow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63040"/>
            <a:ext cx="2103120" cy="329184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6912" y="1463040"/>
            <a:ext cx="54864" cy="329184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25512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525512" y="23774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45552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evaluate_models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525512" y="30632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45552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compare_models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400032" y="2926080"/>
            <a:ext cx="146304" cy="274320"/>
          </a:xfrm>
          <a:prstGeom prst="rightArrow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46336" y="1463040"/>
            <a:ext cx="2103120" cy="329184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46336" y="1463040"/>
            <a:ext cx="54864" cy="329184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774936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Reporting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9774936" y="23774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094976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Power BI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774936" y="30632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094976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statistics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9774936" y="37490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94976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09 · 10 reports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548640" y="4983480"/>
            <a:ext cx="11091672" cy="123444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4983480"/>
            <a:ext cx="54864" cy="123444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2960" y="50292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 </a:t>
            </a:r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reusable modules — cleaning · scheme matching · sentiment · ABSA · topics · statistics · evaluation · worksheets · active learning · model comparison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" y="55778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(raw, never modified)  →  scripts/  →  db/ (PostgreSQL)  →  output/ and reports/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Types of NLP Used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  <a:gridCol w="46908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Model(s)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Lexicon-based sentiment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 + agri word list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up the sentiment of known words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transformer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 (Twitter)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sentiment, used as-is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Aspect-based sentiment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ABSA · DeBERTa ABSA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per service aspect (timeliness, amount …)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modelling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themes in complaints and suggestions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Few-label learning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SetFit (mpnet)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from a few hundred labels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DeBERTa-v3 · ModernBERT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transformer trained on farmer answers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zero / few-shot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Qwen2.5-3B · Dhenu2 · Claude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follows the labelling guide, with 0 or 3 examples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LLMs and Models Compared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20440" cy="201168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1907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860804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24231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Dhenu2 (KissanAI)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8072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agriculture LLM · Llama-3.2-3B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1463040"/>
            <a:ext cx="3520440" cy="201168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34256" y="1463040"/>
            <a:ext cx="54864" cy="201168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90288" y="171907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860804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90288" y="24231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Qwen2.5-3B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90288" y="28072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LLM · 4-bit on RTX 2050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19872" y="1463040"/>
            <a:ext cx="3520440" cy="201168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19872" y="1463040"/>
            <a:ext cx="54864" cy="201168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75904" y="171907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1860804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75904" y="24231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(Anthropic)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375904" y="28072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LLM · zero-shot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48640" y="3703320"/>
            <a:ext cx="3520440" cy="201168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" y="3703320"/>
            <a:ext cx="54864" cy="201168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4672" y="395935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4101084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04672" y="46634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DeBERTa-v3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804672" y="50474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fine-tuned × 5 seeds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34256" y="3703320"/>
            <a:ext cx="3520440" cy="201168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334256" y="3703320"/>
            <a:ext cx="54864" cy="201168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590288" y="395935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101084"/>
            <a:ext cx="283464" cy="28346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590288" y="46634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ModernBERT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4590288" y="50474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encoder · fine-tuned × 5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19872" y="3703320"/>
            <a:ext cx="3520440" cy="201168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119872" y="3703320"/>
            <a:ext cx="54864" cy="201168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375904" y="3959352"/>
            <a:ext cx="566928" cy="566928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4101084"/>
            <a:ext cx="283464" cy="28346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375904" y="46634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SetFit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8375904" y="50474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few-label · × 5 seeds</a:t>
            </a:r>
            <a:endParaRPr lang="en-US" sz="125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baselines: VADER · RoBERTa · TF-IDF logistic regression</a:t>
            </a:r>
            <a:endParaRPr lang="en-US" sz="1500" dirty="0"/>
          </a:p>
        </p:txBody>
      </p:sp>
      <p:sp>
        <p:nvSpPr>
          <p:cNvPr id="43" name="Shape 34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Implementation — Database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table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931920" cy="37859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25880"/>
            <a:ext cx="3931920" cy="3785955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20327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 · survey tables</a:t>
            </a:r>
            <a:endParaRPr lang="en-US" sz="1100" dirty="0"/>
          </a:p>
        </p:txBody>
      </p:sp>
      <p:pic>
        <p:nvPicPr>
          <p:cNvPr id="9" name="Image 1" descr="C:\Users\Krish Singh\AppData\Local\Temp\claude\C--Users-Krish-Singh-Documents-FarmerSchemeNLP\b9dddda3-e35f-400b-b358-6f49f16eb2ec\scratchpad/shots/describe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25880"/>
            <a:ext cx="6394446" cy="3611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0" y="1325880"/>
            <a:ext cx="6394446" cy="3611880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754880" y="5029200"/>
            <a:ext cx="63944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 · keys, CHECK rule and foreign keys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5257800"/>
            <a:ext cx="2194560" cy="109728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5257800"/>
            <a:ext cx="54864" cy="109728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983480" y="5394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</a:t>
            </a:r>
            <a:endParaRPr lang="en-US" sz="3400" dirty="0"/>
          </a:p>
        </p:txBody>
      </p:sp>
      <p:sp>
        <p:nvSpPr>
          <p:cNvPr id="15" name="Text 11"/>
          <p:cNvSpPr txBox="1"/>
          <p:nvPr/>
        </p:nvSpPr>
        <p:spPr>
          <a:xfrm>
            <a:off x="4983480" y="5894222"/>
            <a:ext cx="17373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086600" y="5257800"/>
            <a:ext cx="2194560" cy="109728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86600" y="5257800"/>
            <a:ext cx="54864" cy="109728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15200" y="5394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7315200" y="5894222"/>
            <a:ext cx="17373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rules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9418320" y="5257800"/>
            <a:ext cx="2194560" cy="109728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418320" y="5257800"/>
            <a:ext cx="54864" cy="109728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646920" y="5394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</a:t>
            </a:r>
            <a:endParaRPr lang="en-US" sz="3400" dirty="0"/>
          </a:p>
        </p:txBody>
      </p:sp>
      <p:sp>
        <p:nvSpPr>
          <p:cNvPr id="23" name="Text 19"/>
          <p:cNvSpPr txBox="1"/>
          <p:nvPr/>
        </p:nvSpPr>
        <p:spPr>
          <a:xfrm>
            <a:off x="9646920" y="5894222"/>
            <a:ext cx="17373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Implementation — Constraints in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constraint_error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15633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71600"/>
            <a:ext cx="11064240" cy="1563316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02635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 · invalid inserts rejected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291840"/>
                <a:gridCol w="30449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input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 by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of 5 (allowed −2 … +2)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Respondent 99999 (does not exist)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'Happy'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Implementation — Application &amp; Interface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worksheet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24647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25880"/>
            <a:ext cx="6949440" cy="2464735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882055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labelling worksheet (names hidden)</a:t>
            </a:r>
            <a:endParaRPr lang="en-US" sz="1100" dirty="0"/>
          </a:p>
        </p:txBody>
      </p:sp>
      <p:pic>
        <p:nvPicPr>
          <p:cNvPr id="9" name="Image 1" descr="C:\Users\Krish Singh\AppData\Local\Temp\claude\C--Users-Krish-Singh-Documents-FarmerSchemeNLP\b9dddda3-e35f-400b-b358-6f49f16eb2ec\scratchpad/shots/models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5896051" cy="1783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343400"/>
            <a:ext cx="5896051" cy="1783080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6217920"/>
            <a:ext cx="58960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 · registered NLP models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863840" y="164592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18388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 3, parameterised queries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863840" y="242316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18388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 .env, never in code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863840" y="320040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8388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per load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863840" y="39776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18388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 / 3 keyboard labelling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863840" y="475488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183880" y="4663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linked to its model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Demonstration — Live Queries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awarenes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317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25880"/>
            <a:ext cx="6035040" cy="3178834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59615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 · awareness view on the live database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766560" y="1280160"/>
          <a:ext cx="4873752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858000" y="5120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finds 32 farmers complaining about delays with documents — impossible on the original spreadsheet.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Demonstration — Validation Inside PostgreSQL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validation_view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20915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71600"/>
            <a:ext cx="7498080" cy="2091570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55461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 · reporting.v_validation_metrics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21040" y="173736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4108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 human labels in analytics.annotation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321040" y="26060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410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view joins labels to model scores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321040" y="347472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4108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computed by the database itself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321040" y="434340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4108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23.5% · RoBERTa 50.6%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074920"/>
            <a:ext cx="11091672" cy="109728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sentiment tools misread farmer feedback — so models must be validated before their numbers are trusted.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Results — Model Comparison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766560" cy="5166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371600"/>
            <a:ext cx="4233672" cy="493776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920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Fine-tuned ModernBERT-base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880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D3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0.765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· 83.5% accuracy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26680" y="429768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lexicon: only 0.22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26680" y="493776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Dhenu2 best 0.70 vs Qwen 0.39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726680" y="55778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farmer labels ≫ generic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Results — Policy Findings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7607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371600"/>
            <a:ext cx="5239512" cy="219456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FD3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89.4%  vs  9.1%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Rythu Bharosa vs Crop Insurance — awareness does not become enrolment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794760"/>
          <a:ext cx="52395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12161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Weakest 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negative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Subsidy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Kisan Credit 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PM-KISAN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Rythu Bharosa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00800" y="5760720"/>
            <a:ext cx="5239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comments disagree ~28% of the time on timeliness and enrolment (p &lt; 0.001)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Testing &amp; Verification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pic>
        <p:nvPicPr>
          <p:cNvPr id="6" name="Image 0" descr="C:\Users\Krish Singh\AppData\Local\Temp\claude\C--Users-Krish-Singh-Documents-FarmerSchemeNLP\b9dddda3-e35f-400b-b358-6f49f16eb2ec\scratchpad/shots/etl_run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943600" cy="30796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25880"/>
            <a:ext cx="5943600" cy="3079648"/>
          </a:xfrm>
          <a:prstGeom prst="rect">
            <a:avLst/>
          </a:prstGeom>
          <a:ln w="1270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496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· database load, 41/41 checks pass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371600"/>
            <a:ext cx="4873752" cy="1078992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1371600"/>
            <a:ext cx="54864" cy="1078992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1508760"/>
            <a:ext cx="44165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41 / 41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1997415"/>
            <a:ext cx="4416552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SQL-vs-Python checks pass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66560" y="2587752"/>
            <a:ext cx="4873752" cy="1078992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2587752"/>
            <a:ext cx="54864" cy="1078992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95160" y="2724912"/>
            <a:ext cx="44165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4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213567"/>
            <a:ext cx="4416552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inserts rejected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766560" y="3803904"/>
            <a:ext cx="4873752" cy="1078992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0" y="3803904"/>
            <a:ext cx="54864" cy="1078992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95160" y="3941064"/>
            <a:ext cx="44165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13.7 s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4429719"/>
            <a:ext cx="4416552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rebuild from Excel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766560" y="5020056"/>
            <a:ext cx="4873752" cy="1078992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0" y="5020056"/>
            <a:ext cx="54864" cy="1078992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95160" y="5157216"/>
            <a:ext cx="44165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MB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6995160" y="5645871"/>
            <a:ext cx="4416552" cy="345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size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Challenges and Learning Outcomes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spellings of one scheme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matching + alias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inside cells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tables (1NF)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 contradictory farmers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flagged, not deleted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vs Python drift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automatic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too big for laptop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quantisation on GPU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model runs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cached predictions, resumable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17320"/>
            <a:ext cx="4142232" cy="402336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0" y="224028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Normalising messy real data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0" y="288036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CHECKs, views, windows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72400" y="352044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Python ↔ PostgreSQL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72400" y="416052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9244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model evaluation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772400" y="480060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924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LLMs efficiently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128016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33472" cy="393192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D3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Achieved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22-table 3NF database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models compared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206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answers in SQL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374136" y="1463040"/>
            <a:ext cx="2633472" cy="393192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4136" y="1463040"/>
            <a:ext cx="54864" cy="393192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48456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48456" y="256032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68496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district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3648456" y="342900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68496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→ English notes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648456" y="429768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68496" y="4206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labelling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199632" y="1463040"/>
            <a:ext cx="2633472" cy="393192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73952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D3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73952" y="256032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93992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on PostgreSQL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473952" y="342900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93992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districts, cloud DB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73952" y="429768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93992" y="4206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Telugu-language models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9025128" y="1463040"/>
            <a:ext cx="2633472" cy="3931920"/>
          </a:xfrm>
          <a:prstGeom prst="rect">
            <a:avLst/>
          </a:prstGeom>
          <a:solidFill>
            <a:srgbClr val="EEF2F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25128" y="1463040"/>
            <a:ext cx="54864" cy="3931920"/>
          </a:xfrm>
          <a:prstGeom prst="rect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99448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Research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299448" y="256032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19488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journal paper in progress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9299448" y="342900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19488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Prof. Sangeetha S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9299448" y="4297680"/>
            <a:ext cx="146304" cy="146304"/>
          </a:xfrm>
          <a:prstGeom prst="ellipse">
            <a:avLst/>
          </a:prstGeom>
          <a:solidFill>
            <a:srgbClr val="13877A"/>
          </a:solidFill>
          <a:ln w="12700">
            <a:solidFill>
              <a:srgbClr val="13877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19488" y="4206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 GitHub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https://github.com/singhkrish2006/farmer-scheme-policy-intelligence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943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6E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for Agriculture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11064240" y="651052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Vellore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 Intelligence for Agriculture - Project Demonstration</dc:title>
  <dc:subject>Project Presentation and Demonstration</dc:subject>
  <dc:creator>Krish Singh</dc:creator>
  <cp:lastModifiedBy>Krish Singh</cp:lastModifiedBy>
  <cp:revision>1</cp:revision>
  <dcterms:created xsi:type="dcterms:W3CDTF">2026-10-21T02:25:07Z</dcterms:created>
  <dcterms:modified xsi:type="dcterms:W3CDTF">2026-10-21T02:25:07Z</dcterms:modified>
</cp:coreProperties>
</file>